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A32"/>
    <a:srgbClr val="D2C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5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C502-F976-E7A4-8491-EAF2A190B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48813-7E76-ED36-9394-11B4AEC71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F172D-FE93-8116-08CE-4685AFBB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B900B-9EF5-3F0E-E2E1-495F6CD4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B752-5467-3955-02A8-A91A2CE9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0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5D6B-CB6B-28A7-B234-6BD5811D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566A-7ACB-DA36-C5F8-1896D9D9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F5AB0-F836-40C0-47B1-33E81909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A206-27A0-EDD2-AA55-756043F8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BC123-8B5A-A509-380A-63C94517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7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AEEE-80E0-EA63-7189-76E19F89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ABDEA-CDFB-7840-E0B1-48F0DCD60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8E152-2390-7070-18DA-D93F328F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650B-F37F-E116-C4D8-F2870021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846C-58E9-679E-E060-70DC56CA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0952-77E3-1B73-D52B-7A6F75A2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E9597-6D1D-18F4-DC8D-41AAF7C5D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4A1BB-1C1C-4FC8-947B-444734678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D8379-0F5B-0326-13EC-3D38B24D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28AB4-009F-B35F-C0FA-F22DBF1D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39EF8-44FB-71D4-4725-6C422A1C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3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D89A-0A72-C1F7-ED83-57BAA7A6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54A13-F206-E406-8EA0-B9E1B2834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47592-7823-34A1-687F-C72AB32F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F7EC1-13C2-CB9B-37E8-1F02FF5E4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25E2B-A342-4981-8F91-5114B5FE8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5626B-AC24-CEA7-4DE3-E68B56C0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14BE9-DCDD-2FF4-FECB-B5FC250B1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38E56-8E4D-3503-83BF-97673648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8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C598-B0A9-6E7A-D4F4-7B67D8C0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5F28D-305C-0F78-8E19-5FFA2F70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EBC10-9AFD-7775-B304-3F49AB41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DDFE5-B75B-ABD8-6A62-082FA008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F1B27-F6DE-8CAA-6C40-DD90BE30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06EA0-26D0-FB40-5F38-5ED7559F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9F652-878A-7EC2-0757-5737E24B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0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09C3-CA27-8042-04C6-04EC5055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0992-3BA6-97C1-E75A-D2D0691B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FF222-6A93-94E6-3AA2-A779C6304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23C2B-76DC-7773-22E6-C081B366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8F7D1-6C1C-EC82-0511-5DC5D5A9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071D6-8894-2466-0F40-006F9BA3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7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D95D-678B-4F2D-CA0A-8921C64E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A1204-4682-F282-D40F-57D07F0AD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A5B16-60C9-22C9-CB89-8759E88C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5FE2E-A30C-F822-A972-63A36278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108EB-D59D-495B-4F06-0AF8B03F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ED254-6C87-03C5-CD53-02571E65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9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EA3B-FBEB-91B0-C73E-2DA37E21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C1C7E-C2CC-B1DD-E0B7-B3080262F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1ACBF-1C66-96BD-5F34-7153605C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E0802-42D8-A337-8DFB-401D071F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4F9FE-B6A8-3CF9-9532-C3567EE9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9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5DD28-4B7E-4CBE-801C-379F9D182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7F4DC-49C4-0A47-82FD-478D1AD50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E5512-DD1A-518A-65EB-63DA302C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D92D6-CB1A-9227-CCB9-8B500E14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7DB8C-F65C-9B23-6AB7-E9FA6B9A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5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7AA1B-7F77-9A22-8C3C-69884669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A0CC4-202B-72C9-4815-AA4DDE4D2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CA530-B0E3-4FCA-5D4B-CD7CF5288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02168-6D13-49B7-B323-757B16A6C01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8B367-6D84-507E-C4D8-8C8A0C0D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86EE8-3E24-4AE2-E7B7-520FF5162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43CAD-29F9-4578-9B1B-48E2A3F9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hassan.ali.ha2026@gmail.com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touching a touch screen&#10;&#10;AI-generated content may be incorrect.">
            <a:extLst>
              <a:ext uri="{FF2B5EF4-FFF2-40B4-BE49-F238E27FC236}">
                <a16:creationId xmlns:a16="http://schemas.microsoft.com/office/drawing/2014/main" id="{3445BA67-7204-14F6-1057-9944D8BC9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1C9FC0-98B4-EE78-E3AF-4B832A365D46}"/>
              </a:ext>
            </a:extLst>
          </p:cNvPr>
          <p:cNvSpPr txBox="1"/>
          <p:nvPr/>
        </p:nvSpPr>
        <p:spPr>
          <a:xfrm>
            <a:off x="-8891239" y="-139174"/>
            <a:ext cx="9935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D2C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Analyst | BIS Graduate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AF56-389F-3C97-6660-6B9BBD7F89A4}"/>
              </a:ext>
            </a:extLst>
          </p:cNvPr>
          <p:cNvSpPr txBox="1"/>
          <p:nvPr/>
        </p:nvSpPr>
        <p:spPr>
          <a:xfrm>
            <a:off x="22302" y="-707886"/>
            <a:ext cx="4750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D2C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Hassan Ali Hassan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808BD7-C700-4CC0-0868-28B6E9107216}"/>
              </a:ext>
            </a:extLst>
          </p:cNvPr>
          <p:cNvCxnSpPr/>
          <p:nvPr/>
        </p:nvCxnSpPr>
        <p:spPr>
          <a:xfrm flipH="1">
            <a:off x="189571" y="568712"/>
            <a:ext cx="44158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69F069-E5F4-C2F5-B236-99815C73DF5E}"/>
              </a:ext>
            </a:extLst>
          </p:cNvPr>
          <p:cNvSpPr txBox="1"/>
          <p:nvPr/>
        </p:nvSpPr>
        <p:spPr>
          <a:xfrm>
            <a:off x="12487414" y="5357665"/>
            <a:ext cx="5568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>
                    <a:lumMod val="85000"/>
                  </a:schemeClr>
                </a:solidFill>
                <a:latin typeface="Century" panose="02040604050505020304" pitchFamily="18" charset="0"/>
              </a:rPr>
              <a:t>Built with Power BI &amp; SAP Sample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4F220-8349-D4C5-AED5-314EE7CB7DB4}"/>
              </a:ext>
            </a:extLst>
          </p:cNvPr>
          <p:cNvSpPr txBox="1"/>
          <p:nvPr/>
        </p:nvSpPr>
        <p:spPr>
          <a:xfrm>
            <a:off x="8505035" y="-1955056"/>
            <a:ext cx="3549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</a:rPr>
              <a:t>B2B Sales Performance Analysis: Unlocking ERP Data</a:t>
            </a:r>
          </a:p>
        </p:txBody>
      </p:sp>
      <p:pic>
        <p:nvPicPr>
          <p:cNvPr id="21" name="Picture 20" descr="A logo of a computer with a graph on it&#10;&#10;AI-generated content may be incorrect.">
            <a:extLst>
              <a:ext uri="{FF2B5EF4-FFF2-40B4-BE49-F238E27FC236}">
                <a16:creationId xmlns:a16="http://schemas.microsoft.com/office/drawing/2014/main" id="{2DF738EA-531A-D1D9-910C-8E6ADFEBE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6" t="18298" r="17679" b="21350"/>
          <a:stretch/>
        </p:blipFill>
        <p:spPr>
          <a:xfrm>
            <a:off x="189571" y="-3361041"/>
            <a:ext cx="2949776" cy="29375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 descr="A yellow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2E996013-2FBB-66A0-6442-F60E363CA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955" y="-5405121"/>
            <a:ext cx="6352045" cy="3557023"/>
          </a:xfrm>
          <a:prstGeom prst="rect">
            <a:avLst/>
          </a:prstGeom>
        </p:spPr>
      </p:pic>
      <p:pic>
        <p:nvPicPr>
          <p:cNvPr id="27" name="Picture 26" descr="A logo for a company&#10;&#10;AI-generated content may be incorrect.">
            <a:extLst>
              <a:ext uri="{FF2B5EF4-FFF2-40B4-BE49-F238E27FC236}">
                <a16:creationId xmlns:a16="http://schemas.microsoft.com/office/drawing/2014/main" id="{568040C0-A979-C504-B34C-D3AC152D6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2" r="22701"/>
          <a:stretch/>
        </p:blipFill>
        <p:spPr>
          <a:xfrm>
            <a:off x="12381571" y="423117"/>
            <a:ext cx="2480311" cy="24768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64221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touching a touch screen&#10;&#10;AI-generated content may be incorrect.">
            <a:extLst>
              <a:ext uri="{FF2B5EF4-FFF2-40B4-BE49-F238E27FC236}">
                <a16:creationId xmlns:a16="http://schemas.microsoft.com/office/drawing/2014/main" id="{3445BA67-7204-14F6-1057-9944D8BC9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1C9FC0-98B4-EE78-E3AF-4B832A365D46}"/>
              </a:ext>
            </a:extLst>
          </p:cNvPr>
          <p:cNvSpPr txBox="1"/>
          <p:nvPr/>
        </p:nvSpPr>
        <p:spPr>
          <a:xfrm>
            <a:off x="4066478" y="0"/>
            <a:ext cx="9935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D2C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Analyst | BIS Graduate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AF56-389F-3C97-6660-6B9BBD7F89A4}"/>
              </a:ext>
            </a:extLst>
          </p:cNvPr>
          <p:cNvSpPr txBox="1"/>
          <p:nvPr/>
        </p:nvSpPr>
        <p:spPr>
          <a:xfrm>
            <a:off x="0" y="0"/>
            <a:ext cx="4750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D2C8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Hassan Ali Hassan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808BD7-C700-4CC0-0868-28B6E9107216}"/>
              </a:ext>
            </a:extLst>
          </p:cNvPr>
          <p:cNvCxnSpPr/>
          <p:nvPr/>
        </p:nvCxnSpPr>
        <p:spPr>
          <a:xfrm flipH="1">
            <a:off x="189571" y="568712"/>
            <a:ext cx="44158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69F069-E5F4-C2F5-B236-99815C73DF5E}"/>
              </a:ext>
            </a:extLst>
          </p:cNvPr>
          <p:cNvSpPr txBox="1"/>
          <p:nvPr/>
        </p:nvSpPr>
        <p:spPr>
          <a:xfrm>
            <a:off x="6623824" y="5369095"/>
            <a:ext cx="5568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>
                    <a:lumMod val="85000"/>
                  </a:schemeClr>
                </a:solidFill>
                <a:latin typeface="Century" panose="02040604050505020304" pitchFamily="18" charset="0"/>
              </a:rPr>
              <a:t>Built with Power BI &amp; SAP Sample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4F220-8349-D4C5-AED5-314EE7CB7DB4}"/>
              </a:ext>
            </a:extLst>
          </p:cNvPr>
          <p:cNvSpPr txBox="1"/>
          <p:nvPr/>
        </p:nvSpPr>
        <p:spPr>
          <a:xfrm>
            <a:off x="8642195" y="2408665"/>
            <a:ext cx="3549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</a:rPr>
              <a:t>B2B Sales Performance Analysis: Unlocking ERP Data</a:t>
            </a:r>
          </a:p>
        </p:txBody>
      </p:sp>
      <p:pic>
        <p:nvPicPr>
          <p:cNvPr id="4" name="Picture 3" descr="A logo of a computer with a graph on it&#10;&#10;AI-generated content may be incorrect.">
            <a:extLst>
              <a:ext uri="{FF2B5EF4-FFF2-40B4-BE49-F238E27FC236}">
                <a16:creationId xmlns:a16="http://schemas.microsoft.com/office/drawing/2014/main" id="{B8346A17-3B59-7448-F869-E9353DA19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6" t="18298" r="17679" b="21350"/>
          <a:stretch/>
        </p:blipFill>
        <p:spPr>
          <a:xfrm>
            <a:off x="0" y="5649857"/>
            <a:ext cx="1438506" cy="12025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A yellow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2B115A4-EA49-8100-344C-6B2587B35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06" y="5547344"/>
            <a:ext cx="2191184" cy="1227021"/>
          </a:xfrm>
          <a:prstGeom prst="rect">
            <a:avLst/>
          </a:prstGeom>
        </p:spPr>
      </p:pic>
      <p:pic>
        <p:nvPicPr>
          <p:cNvPr id="12" name="Picture 11" descr="A logo for a company&#10;&#10;AI-generated content may be incorrect.">
            <a:extLst>
              <a:ext uri="{FF2B5EF4-FFF2-40B4-BE49-F238E27FC236}">
                <a16:creationId xmlns:a16="http://schemas.microsoft.com/office/drawing/2014/main" id="{5DBD49FE-8BCD-06BF-8CE9-194CDD70E3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2" r="22701"/>
          <a:stretch/>
        </p:blipFill>
        <p:spPr>
          <a:xfrm>
            <a:off x="3642681" y="5691990"/>
            <a:ext cx="973925" cy="9284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5434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gnifying glass with a red target&#10;&#10;AI-generated content may be incorrect.">
            <a:extLst>
              <a:ext uri="{FF2B5EF4-FFF2-40B4-BE49-F238E27FC236}">
                <a16:creationId xmlns:a16="http://schemas.microsoft.com/office/drawing/2014/main" id="{ABEF44C3-3990-ACCF-3F04-BCF761D3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A3367-173A-F504-D886-842AAE32C297}"/>
              </a:ext>
            </a:extLst>
          </p:cNvPr>
          <p:cNvSpPr txBox="1"/>
          <p:nvPr/>
        </p:nvSpPr>
        <p:spPr>
          <a:xfrm>
            <a:off x="-122663" y="-697156"/>
            <a:ext cx="516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The 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873DF-338F-C1F9-0BA5-325406503D0D}"/>
              </a:ext>
            </a:extLst>
          </p:cNvPr>
          <p:cNvSpPr txBox="1"/>
          <p:nvPr/>
        </p:nvSpPr>
        <p:spPr>
          <a:xfrm>
            <a:off x="12400156" y="169276"/>
            <a:ext cx="5163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Raw ERP systems (like SAP) generate massive, normalized datasets scattered across multiple relational tables</a:t>
            </a:r>
          </a:p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(Sales, Products, Customers).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30EA-FA17-ADA8-4DE1-76D617149F3C}"/>
              </a:ext>
            </a:extLst>
          </p:cNvPr>
          <p:cNvSpPr txBox="1"/>
          <p:nvPr/>
        </p:nvSpPr>
        <p:spPr>
          <a:xfrm>
            <a:off x="12390118" y="1492715"/>
            <a:ext cx="4728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This complexity makes it difficult for management to extract quick, actionable insights.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F1C2BF4-3553-48DB-CB16-D4B0FD1D19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56" y="-1"/>
            <a:ext cx="5798634" cy="2985433"/>
          </a:xfrm>
          <a:prstGeom prst="bentConnector3">
            <a:avLst>
              <a:gd name="adj1" fmla="val 15962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3A0B1E-AD02-1A10-E6C4-EBBFCD8D544B}"/>
              </a:ext>
            </a:extLst>
          </p:cNvPr>
          <p:cNvSpPr txBox="1"/>
          <p:nvPr/>
        </p:nvSpPr>
        <p:spPr>
          <a:xfrm>
            <a:off x="-122663" y="-953868"/>
            <a:ext cx="351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The 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03247-C3ED-86DF-1C93-638AA578A0B8}"/>
              </a:ext>
            </a:extLst>
          </p:cNvPr>
          <p:cNvSpPr txBox="1"/>
          <p:nvPr/>
        </p:nvSpPr>
        <p:spPr>
          <a:xfrm>
            <a:off x="12400156" y="3170097"/>
            <a:ext cx="4728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To design an automated, interactive Power BI dashboard that consolidates these tables into a single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 "Source of Truth".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B8161F-7376-8B25-1691-B8C541284A97}"/>
              </a:ext>
            </a:extLst>
          </p:cNvPr>
          <p:cNvSpPr txBox="1"/>
          <p:nvPr/>
        </p:nvSpPr>
        <p:spPr>
          <a:xfrm>
            <a:off x="12501634" y="4801312"/>
            <a:ext cx="4616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To enable data-driven decision-making for the executive team.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B0BEE9D-5133-2281-9032-AA3C9B8BFB5F}"/>
              </a:ext>
            </a:extLst>
          </p:cNvPr>
          <p:cNvCxnSpPr>
            <a:cxnSpLocks/>
          </p:cNvCxnSpPr>
          <p:nvPr/>
        </p:nvCxnSpPr>
        <p:spPr>
          <a:xfrm rot="10800000">
            <a:off x="0" y="2985434"/>
            <a:ext cx="5798634" cy="3872569"/>
          </a:xfrm>
          <a:prstGeom prst="bentConnector3">
            <a:avLst>
              <a:gd name="adj1" fmla="val 15000"/>
            </a:avLst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032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gnifying glass with a red target&#10;&#10;AI-generated content may be incorrect.">
            <a:extLst>
              <a:ext uri="{FF2B5EF4-FFF2-40B4-BE49-F238E27FC236}">
                <a16:creationId xmlns:a16="http://schemas.microsoft.com/office/drawing/2014/main" id="{ABEF44C3-3990-ACCF-3F04-BCF761D3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A3367-173A-F504-D886-842AAE32C297}"/>
              </a:ext>
            </a:extLst>
          </p:cNvPr>
          <p:cNvSpPr txBox="1"/>
          <p:nvPr/>
        </p:nvSpPr>
        <p:spPr>
          <a:xfrm>
            <a:off x="0" y="0"/>
            <a:ext cx="516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The 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873DF-338F-C1F9-0BA5-325406503D0D}"/>
              </a:ext>
            </a:extLst>
          </p:cNvPr>
          <p:cNvSpPr txBox="1"/>
          <p:nvPr/>
        </p:nvSpPr>
        <p:spPr>
          <a:xfrm>
            <a:off x="0" y="646331"/>
            <a:ext cx="5163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Raw ERP systems (like SAP) generate massive, normalized datasets scattered across multiple relational tables</a:t>
            </a:r>
          </a:p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(Sales, Products, Customers).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30EA-FA17-ADA8-4DE1-76D617149F3C}"/>
              </a:ext>
            </a:extLst>
          </p:cNvPr>
          <p:cNvSpPr txBox="1"/>
          <p:nvPr/>
        </p:nvSpPr>
        <p:spPr>
          <a:xfrm>
            <a:off x="0" y="1969770"/>
            <a:ext cx="4728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This complexity makes it difficult for management to extract quick, actionable insights.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F1C2BF4-3553-48DB-CB16-D4B0FD1D19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56" y="-1"/>
            <a:ext cx="5798634" cy="2985433"/>
          </a:xfrm>
          <a:prstGeom prst="bentConnector3">
            <a:avLst>
              <a:gd name="adj1" fmla="val 15962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3A0B1E-AD02-1A10-E6C4-EBBFCD8D544B}"/>
              </a:ext>
            </a:extLst>
          </p:cNvPr>
          <p:cNvSpPr txBox="1"/>
          <p:nvPr/>
        </p:nvSpPr>
        <p:spPr>
          <a:xfrm>
            <a:off x="-2" y="2985433"/>
            <a:ext cx="351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The 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03247-C3ED-86DF-1C93-638AA578A0B8}"/>
              </a:ext>
            </a:extLst>
          </p:cNvPr>
          <p:cNvSpPr txBox="1"/>
          <p:nvPr/>
        </p:nvSpPr>
        <p:spPr>
          <a:xfrm>
            <a:off x="-3" y="3733409"/>
            <a:ext cx="4728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To design an automated, interactive Power BI dashboard that consolidates these tables into a single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 "Source of Truth".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B8161F-7376-8B25-1691-B8C541284A97}"/>
              </a:ext>
            </a:extLst>
          </p:cNvPr>
          <p:cNvSpPr txBox="1"/>
          <p:nvPr/>
        </p:nvSpPr>
        <p:spPr>
          <a:xfrm>
            <a:off x="55754" y="5077568"/>
            <a:ext cx="4616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To enable data-driven decision-making for the executive team.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B0BEE9D-5133-2281-9032-AA3C9B8BFB5F}"/>
              </a:ext>
            </a:extLst>
          </p:cNvPr>
          <p:cNvCxnSpPr>
            <a:cxnSpLocks/>
          </p:cNvCxnSpPr>
          <p:nvPr/>
        </p:nvCxnSpPr>
        <p:spPr>
          <a:xfrm rot="10800000">
            <a:off x="0" y="2985434"/>
            <a:ext cx="5798634" cy="3872569"/>
          </a:xfrm>
          <a:prstGeom prst="bentConnector3">
            <a:avLst>
              <a:gd name="adj1" fmla="val 15000"/>
            </a:avLst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0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stage with a round platform and a lit up wall&#10;&#10;AI-generated content may be incorrect.">
            <a:extLst>
              <a:ext uri="{FF2B5EF4-FFF2-40B4-BE49-F238E27FC236}">
                <a16:creationId xmlns:a16="http://schemas.microsoft.com/office/drawing/2014/main" id="{D3F804ED-52D9-4410-FEFB-13999650F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129604-2796-F298-33BA-5A6C56520192}"/>
              </a:ext>
            </a:extLst>
          </p:cNvPr>
          <p:cNvSpPr/>
          <p:nvPr/>
        </p:nvSpPr>
        <p:spPr>
          <a:xfrm>
            <a:off x="2129883" y="0"/>
            <a:ext cx="7337502" cy="7471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83D74D-4D61-C910-B329-30D4F1396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29161"/>
            <a:ext cx="5503345" cy="299967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A037F0-9BD0-3B27-E29D-947CF72DC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8" y="1929162"/>
            <a:ext cx="5761462" cy="29996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F60E19-235A-EDA9-D07D-FAF09373BB05}"/>
              </a:ext>
            </a:extLst>
          </p:cNvPr>
          <p:cNvSpPr txBox="1"/>
          <p:nvPr/>
        </p:nvSpPr>
        <p:spPr>
          <a:xfrm>
            <a:off x="1940311" y="0"/>
            <a:ext cx="7850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Sales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DF462-03D7-75AE-D861-84386BF0E5E3}"/>
              </a:ext>
            </a:extLst>
          </p:cNvPr>
          <p:cNvSpPr txBox="1"/>
          <p:nvPr/>
        </p:nvSpPr>
        <p:spPr>
          <a:xfrm>
            <a:off x="983165" y="6396335"/>
            <a:ext cx="1022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includes an interactive timeline slicer for dynamic filtering</a:t>
            </a:r>
          </a:p>
        </p:txBody>
      </p:sp>
    </p:spTree>
    <p:extLst>
      <p:ext uri="{BB962C8B-B14F-4D97-AF65-F5344CB8AC3E}">
        <p14:creationId xmlns:p14="http://schemas.microsoft.com/office/powerpoint/2010/main" val="2825485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stage with a round platform and a lit up wall&#10;&#10;AI-generated content may be incorrect.">
            <a:extLst>
              <a:ext uri="{FF2B5EF4-FFF2-40B4-BE49-F238E27FC236}">
                <a16:creationId xmlns:a16="http://schemas.microsoft.com/office/drawing/2014/main" id="{D3F804ED-52D9-4410-FEFB-13999650F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129604-2796-F298-33BA-5A6C56520192}"/>
              </a:ext>
            </a:extLst>
          </p:cNvPr>
          <p:cNvSpPr/>
          <p:nvPr/>
        </p:nvSpPr>
        <p:spPr>
          <a:xfrm>
            <a:off x="12511668" y="0"/>
            <a:ext cx="7337502" cy="7471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83D74D-4D61-C910-B329-30D4F1396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030" y="0"/>
            <a:ext cx="7379969" cy="68580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A037F0-9BD0-3B27-E29D-947CF72DC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1203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F60E19-235A-EDA9-D07D-FAF09373BB05}"/>
              </a:ext>
            </a:extLst>
          </p:cNvPr>
          <p:cNvSpPr txBox="1"/>
          <p:nvPr/>
        </p:nvSpPr>
        <p:spPr>
          <a:xfrm>
            <a:off x="2007218" y="-975735"/>
            <a:ext cx="7850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Sales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DF462-03D7-75AE-D861-84386BF0E5E3}"/>
              </a:ext>
            </a:extLst>
          </p:cNvPr>
          <p:cNvSpPr txBox="1"/>
          <p:nvPr/>
        </p:nvSpPr>
        <p:spPr>
          <a:xfrm>
            <a:off x="819612" y="7064294"/>
            <a:ext cx="1022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includes an interactive timeline slicer for dynamic filtering</a:t>
            </a:r>
          </a:p>
        </p:txBody>
      </p:sp>
    </p:spTree>
    <p:extLst>
      <p:ext uri="{BB962C8B-B14F-4D97-AF65-F5344CB8AC3E}">
        <p14:creationId xmlns:p14="http://schemas.microsoft.com/office/powerpoint/2010/main" val="3636832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looking at a graph&#10;&#10;AI-generated content may be incorrect.">
            <a:extLst>
              <a:ext uri="{FF2B5EF4-FFF2-40B4-BE49-F238E27FC236}">
                <a16:creationId xmlns:a16="http://schemas.microsoft.com/office/drawing/2014/main" id="{C2E31D6F-1240-67DC-5917-9A104535A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146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12ABB7-AB0D-B215-F92B-51A1F9700ACE}"/>
              </a:ext>
            </a:extLst>
          </p:cNvPr>
          <p:cNvSpPr/>
          <p:nvPr/>
        </p:nvSpPr>
        <p:spPr>
          <a:xfrm>
            <a:off x="3546088" y="78059"/>
            <a:ext cx="5140712" cy="6298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A53D7-BEA8-53A0-55CF-50977CD636F5}"/>
              </a:ext>
            </a:extLst>
          </p:cNvPr>
          <p:cNvSpPr txBox="1"/>
          <p:nvPr/>
        </p:nvSpPr>
        <p:spPr>
          <a:xfrm>
            <a:off x="2018371" y="0"/>
            <a:ext cx="8196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Business Insights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692F3F7-1072-C43C-E978-7F3C78C69A69}"/>
              </a:ext>
            </a:extLst>
          </p:cNvPr>
          <p:cNvSpPr/>
          <p:nvPr/>
        </p:nvSpPr>
        <p:spPr>
          <a:xfrm>
            <a:off x="0" y="785944"/>
            <a:ext cx="5252224" cy="1533509"/>
          </a:xfrm>
          <a:prstGeom prst="round2Diag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11F57-CB40-DAD0-399C-1129DB9EEA50}"/>
              </a:ext>
            </a:extLst>
          </p:cNvPr>
          <p:cNvSpPr txBox="1"/>
          <p:nvPr/>
        </p:nvSpPr>
        <p:spPr>
          <a:xfrm>
            <a:off x="0" y="791737"/>
            <a:ext cx="54194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Generated $3.22M in total revenue across 334 B2B orders, maintaining a strong Average Order Value (AOV) of $9.66K.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D1ED9DE-D08B-5508-BBC5-C6E7FD6F4859}"/>
              </a:ext>
            </a:extLst>
          </p:cNvPr>
          <p:cNvSpPr/>
          <p:nvPr/>
        </p:nvSpPr>
        <p:spPr>
          <a:xfrm>
            <a:off x="0" y="2491395"/>
            <a:ext cx="6378498" cy="1015663"/>
          </a:xfrm>
          <a:prstGeom prst="round2Diag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39F4F-B4E7-8A89-4695-3CDC666BA0E5}"/>
              </a:ext>
            </a:extLst>
          </p:cNvPr>
          <p:cNvSpPr txBox="1"/>
          <p:nvPr/>
        </p:nvSpPr>
        <p:spPr>
          <a:xfrm>
            <a:off x="0" y="2491395"/>
            <a:ext cx="63784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activity peaks significantly during February and May, but experiences a sharp, critical drop during late Summer (August).</a:t>
            </a: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996D05D1-CACF-00D5-9B02-D68EB1959E3B}"/>
              </a:ext>
            </a:extLst>
          </p:cNvPr>
          <p:cNvSpPr/>
          <p:nvPr/>
        </p:nvSpPr>
        <p:spPr>
          <a:xfrm>
            <a:off x="0" y="3680460"/>
            <a:ext cx="5715000" cy="1015663"/>
          </a:xfrm>
          <a:prstGeom prst="round2Diag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0DE7B-A329-BF3B-4DC8-6AE596F001A1}"/>
              </a:ext>
            </a:extLst>
          </p:cNvPr>
          <p:cNvSpPr txBox="1"/>
          <p:nvPr/>
        </p:nvSpPr>
        <p:spPr>
          <a:xfrm>
            <a:off x="0" y="3680460"/>
            <a:ext cx="5989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"Bike World Inc." is the undisputed top client ($158K), while the "</a:t>
            </a:r>
            <a:r>
              <a:rPr lang="en-US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Speedeon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Cross" dominates product sales ($0.35M).</a:t>
            </a:r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D33DF80-C586-E458-333B-2E738157A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4482" y="3705429"/>
            <a:ext cx="2629267" cy="609685"/>
          </a:xfrm>
          <a:prstGeom prst="rect">
            <a:avLst/>
          </a:prstGeom>
        </p:spPr>
      </p:pic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361807C-0150-5607-4E27-4B826FBB8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3955" y="3812561"/>
            <a:ext cx="2248214" cy="695422"/>
          </a:xfrm>
          <a:prstGeom prst="rect">
            <a:avLst/>
          </a:prstGeom>
        </p:spPr>
      </p:pic>
      <p:pic>
        <p:nvPicPr>
          <p:cNvPr id="20" name="Picture 19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DCE9DB51-ACEA-F7D5-1E6A-5858F39078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9245" y="3833955"/>
            <a:ext cx="2638793" cy="952633"/>
          </a:xfrm>
          <a:prstGeom prst="rect">
            <a:avLst/>
          </a:prstGeom>
        </p:spPr>
      </p:pic>
      <p:pic>
        <p:nvPicPr>
          <p:cNvPr id="22" name="Picture 21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A7BB7329-DEF0-7DA2-8B01-8A46BD4B8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5376" y="4022061"/>
            <a:ext cx="2191056" cy="876422"/>
          </a:xfrm>
          <a:prstGeom prst="rect">
            <a:avLst/>
          </a:prstGeom>
        </p:spPr>
      </p:pic>
      <p:pic>
        <p:nvPicPr>
          <p:cNvPr id="24" name="Picture 23" descr="A graph with blue line&#10;&#10;AI-generated content may be incorrect.">
            <a:extLst>
              <a:ext uri="{FF2B5EF4-FFF2-40B4-BE49-F238E27FC236}">
                <a16:creationId xmlns:a16="http://schemas.microsoft.com/office/drawing/2014/main" id="{6842DFB7-5132-1D3D-2408-FD3707E62D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303" y="-3099482"/>
            <a:ext cx="5210902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36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looking at a graph&#10;&#10;AI-generated content may be incorrect.">
            <a:extLst>
              <a:ext uri="{FF2B5EF4-FFF2-40B4-BE49-F238E27FC236}">
                <a16:creationId xmlns:a16="http://schemas.microsoft.com/office/drawing/2014/main" id="{C2E31D6F-1240-67DC-5917-9A104535A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12ABB7-AB0D-B215-F92B-51A1F9700ACE}"/>
              </a:ext>
            </a:extLst>
          </p:cNvPr>
          <p:cNvSpPr/>
          <p:nvPr/>
        </p:nvSpPr>
        <p:spPr>
          <a:xfrm>
            <a:off x="3546088" y="78059"/>
            <a:ext cx="5140712" cy="6298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A53D7-BEA8-53A0-55CF-50977CD636F5}"/>
              </a:ext>
            </a:extLst>
          </p:cNvPr>
          <p:cNvSpPr txBox="1"/>
          <p:nvPr/>
        </p:nvSpPr>
        <p:spPr>
          <a:xfrm>
            <a:off x="2018371" y="0"/>
            <a:ext cx="8196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Business Insights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692F3F7-1072-C43C-E978-7F3C78C69A69}"/>
              </a:ext>
            </a:extLst>
          </p:cNvPr>
          <p:cNvSpPr/>
          <p:nvPr/>
        </p:nvSpPr>
        <p:spPr>
          <a:xfrm>
            <a:off x="0" y="785944"/>
            <a:ext cx="5252224" cy="1533509"/>
          </a:xfrm>
          <a:prstGeom prst="round2Diag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11F57-CB40-DAD0-399C-1129DB9EEA50}"/>
              </a:ext>
            </a:extLst>
          </p:cNvPr>
          <p:cNvSpPr txBox="1"/>
          <p:nvPr/>
        </p:nvSpPr>
        <p:spPr>
          <a:xfrm>
            <a:off x="0" y="791737"/>
            <a:ext cx="54194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Generated $3.22M in total revenue across 334 B2B orders, maintaining a strong Average Order Value (AOV) of $9.66K.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D1ED9DE-D08B-5508-BBC5-C6E7FD6F4859}"/>
              </a:ext>
            </a:extLst>
          </p:cNvPr>
          <p:cNvSpPr/>
          <p:nvPr/>
        </p:nvSpPr>
        <p:spPr>
          <a:xfrm>
            <a:off x="5419493" y="859862"/>
            <a:ext cx="6378498" cy="1015663"/>
          </a:xfrm>
          <a:prstGeom prst="round2Diag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39F4F-B4E7-8A89-4695-3CDC666BA0E5}"/>
              </a:ext>
            </a:extLst>
          </p:cNvPr>
          <p:cNvSpPr txBox="1"/>
          <p:nvPr/>
        </p:nvSpPr>
        <p:spPr>
          <a:xfrm>
            <a:off x="5419493" y="859862"/>
            <a:ext cx="63784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activity peaks significantly during February and May, but experiences a sharp, critical drop during late Summer (August).</a:t>
            </a: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996D05D1-CACF-00D5-9B02-D68EB1959E3B}"/>
              </a:ext>
            </a:extLst>
          </p:cNvPr>
          <p:cNvSpPr/>
          <p:nvPr/>
        </p:nvSpPr>
        <p:spPr>
          <a:xfrm>
            <a:off x="5829300" y="2027500"/>
            <a:ext cx="5715000" cy="1015663"/>
          </a:xfrm>
          <a:prstGeom prst="round2Diag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0DE7B-A329-BF3B-4DC8-6AE596F001A1}"/>
              </a:ext>
            </a:extLst>
          </p:cNvPr>
          <p:cNvSpPr txBox="1"/>
          <p:nvPr/>
        </p:nvSpPr>
        <p:spPr>
          <a:xfrm>
            <a:off x="5920740" y="2027501"/>
            <a:ext cx="5989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"Bike World Inc." is the undisputed top client ($158K), while the "</a:t>
            </a:r>
            <a:r>
              <a:rPr lang="en-US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Speedeon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Cross" dominates product sales ($0.35M).</a:t>
            </a:r>
          </a:p>
        </p:txBody>
      </p:sp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63C74AE-F4C1-9136-C285-572E07378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379" y="3444171"/>
            <a:ext cx="2629267" cy="609685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6D745F8-AF37-B34E-B6BC-AE8D7438F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55" y="3376845"/>
            <a:ext cx="2248214" cy="695422"/>
          </a:xfrm>
          <a:prstGeom prst="rect">
            <a:avLst/>
          </a:prstGeom>
        </p:spPr>
      </p:pic>
      <p:pic>
        <p:nvPicPr>
          <p:cNvPr id="4" name="Picture 3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2C6C21D-4530-8249-D7AC-669B5A88A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135" y="2355888"/>
            <a:ext cx="2638793" cy="952633"/>
          </a:xfrm>
          <a:prstGeom prst="rect">
            <a:avLst/>
          </a:prstGeom>
        </p:spPr>
      </p:pic>
      <p:pic>
        <p:nvPicPr>
          <p:cNvPr id="11" name="Picture 10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5427C1F9-E9C2-F860-5776-E72F091435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224" y="3444171"/>
            <a:ext cx="2191056" cy="876422"/>
          </a:xfrm>
          <a:prstGeom prst="rect">
            <a:avLst/>
          </a:prstGeom>
        </p:spPr>
      </p:pic>
      <p:pic>
        <p:nvPicPr>
          <p:cNvPr id="16" name="Picture 15" descr="A graph with blue line&#10;&#10;AI-generated content may be incorrect.">
            <a:extLst>
              <a:ext uri="{FF2B5EF4-FFF2-40B4-BE49-F238E27FC236}">
                <a16:creationId xmlns:a16="http://schemas.microsoft.com/office/drawing/2014/main" id="{78A79F86-65D0-DB32-D3C4-9A34D94D7B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8096"/>
            <a:ext cx="5210902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53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and a cup of coffee on a desk&#10;&#10;AI-generated content may be incorrect.">
            <a:extLst>
              <a:ext uri="{FF2B5EF4-FFF2-40B4-BE49-F238E27FC236}">
                <a16:creationId xmlns:a16="http://schemas.microsoft.com/office/drawing/2014/main" id="{E3419DA8-6609-96F8-EC5E-60F56BC4B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F7B8C279-A0D7-DEE3-D3CD-06D5FF568852}"/>
              </a:ext>
            </a:extLst>
          </p:cNvPr>
          <p:cNvSpPr/>
          <p:nvPr/>
        </p:nvSpPr>
        <p:spPr>
          <a:xfrm>
            <a:off x="-171450" y="7171906"/>
            <a:ext cx="5252224" cy="1639229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B0582-642E-76AF-E436-086FF066C90F}"/>
              </a:ext>
            </a:extLst>
          </p:cNvPr>
          <p:cNvSpPr txBox="1"/>
          <p:nvPr/>
        </p:nvSpPr>
        <p:spPr>
          <a:xfrm>
            <a:off x="-5352585" y="983969"/>
            <a:ext cx="5263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Launch targeted promotional campaigns and discounts in July and August to counter the seasonal drop in sales.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5D72436-5767-17F3-4559-A020763E2301}"/>
              </a:ext>
            </a:extLst>
          </p:cNvPr>
          <p:cNvSpPr/>
          <p:nvPr/>
        </p:nvSpPr>
        <p:spPr>
          <a:xfrm>
            <a:off x="-89209" y="7021365"/>
            <a:ext cx="5263376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AFD8F-31C3-FCC5-4A60-0B5F6F781CF4}"/>
              </a:ext>
            </a:extLst>
          </p:cNvPr>
          <p:cNvSpPr txBox="1"/>
          <p:nvPr/>
        </p:nvSpPr>
        <p:spPr>
          <a:xfrm>
            <a:off x="-5352585" y="983969"/>
            <a:ext cx="5263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Establish a "VIP Account Management" program for our top 5 clients (especially Bike World Inc.) to secure and expand these high-value </a:t>
            </a: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relationships.v</a:t>
            </a:r>
            <a:endParaRPr lang="en-US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5C65FCBB-AEC4-DE17-02F5-D8711350F994}"/>
              </a:ext>
            </a:extLst>
          </p:cNvPr>
          <p:cNvSpPr/>
          <p:nvPr/>
        </p:nvSpPr>
        <p:spPr>
          <a:xfrm>
            <a:off x="308052" y="6870823"/>
            <a:ext cx="4772722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EB51C-57A2-AAE0-50BC-B02DBC16B547}"/>
              </a:ext>
            </a:extLst>
          </p:cNvPr>
          <p:cNvSpPr txBox="1"/>
          <p:nvPr/>
        </p:nvSpPr>
        <p:spPr>
          <a:xfrm>
            <a:off x="-5289395" y="1004930"/>
            <a:ext cx="4783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Increase stock levels for the "</a:t>
            </a:r>
            <a:r>
              <a:rPr lang="en-US" sz="2400" b="1" dirty="0" err="1"/>
              <a:t>Speedeon</a:t>
            </a:r>
            <a:r>
              <a:rPr lang="en-US" sz="2400" b="1" dirty="0"/>
              <a:t>" and "Lazy Cat" product lines ahead of the early peak season (January/February) to prevent stockouts.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CEFACF3B-EABD-73A5-075D-1FF0C6FFC88F}"/>
              </a:ext>
            </a:extLst>
          </p:cNvPr>
          <p:cNvSpPr/>
          <p:nvPr/>
        </p:nvSpPr>
        <p:spPr>
          <a:xfrm>
            <a:off x="1383030" y="160020"/>
            <a:ext cx="9258300" cy="1394460"/>
          </a:xfrm>
          <a:prstGeom prst="round2Diag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59C3C-42C8-708D-B8BE-BD8DEB4CCC08}"/>
              </a:ext>
            </a:extLst>
          </p:cNvPr>
          <p:cNvSpPr txBox="1"/>
          <p:nvPr/>
        </p:nvSpPr>
        <p:spPr>
          <a:xfrm>
            <a:off x="1390650" y="151364"/>
            <a:ext cx="91897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 further inquiries or discussion, feel free to reach out</a:t>
            </a:r>
            <a:br>
              <a:rPr lang="ar-EG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hassan.ali.ha2026@gmail.com</a:t>
            </a:r>
            <a:b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+201119253497</a:t>
            </a:r>
          </a:p>
        </p:txBody>
      </p:sp>
    </p:spTree>
    <p:extLst>
      <p:ext uri="{BB962C8B-B14F-4D97-AF65-F5344CB8AC3E}">
        <p14:creationId xmlns:p14="http://schemas.microsoft.com/office/powerpoint/2010/main" val="2471424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and a cup of coffee on a desk&#10;&#10;AI-generated content may be incorrect.">
            <a:extLst>
              <a:ext uri="{FF2B5EF4-FFF2-40B4-BE49-F238E27FC236}">
                <a16:creationId xmlns:a16="http://schemas.microsoft.com/office/drawing/2014/main" id="{E3419DA8-6609-96F8-EC5E-60F56BC4B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F7B8C279-A0D7-DEE3-D3CD-06D5FF568852}"/>
              </a:ext>
            </a:extLst>
          </p:cNvPr>
          <p:cNvSpPr/>
          <p:nvPr/>
        </p:nvSpPr>
        <p:spPr>
          <a:xfrm>
            <a:off x="591015" y="914400"/>
            <a:ext cx="5252224" cy="1639229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B0582-642E-76AF-E436-086FF066C90F}"/>
              </a:ext>
            </a:extLst>
          </p:cNvPr>
          <p:cNvSpPr txBox="1"/>
          <p:nvPr/>
        </p:nvSpPr>
        <p:spPr>
          <a:xfrm>
            <a:off x="579863" y="947854"/>
            <a:ext cx="5263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Launch targeted promotional campaigns and discounts in July and August to counter the seasonal drop in sales.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5D72436-5767-17F3-4559-A020763E2301}"/>
              </a:ext>
            </a:extLst>
          </p:cNvPr>
          <p:cNvSpPr/>
          <p:nvPr/>
        </p:nvSpPr>
        <p:spPr>
          <a:xfrm>
            <a:off x="6423102" y="914400"/>
            <a:ext cx="5263376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AFD8F-31C3-FCC5-4A60-0B5F6F781CF4}"/>
              </a:ext>
            </a:extLst>
          </p:cNvPr>
          <p:cNvSpPr txBox="1"/>
          <p:nvPr/>
        </p:nvSpPr>
        <p:spPr>
          <a:xfrm>
            <a:off x="6434254" y="947854"/>
            <a:ext cx="5263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Establish a "VIP Account Management" program for our top 5 clients (especially Bike World Inc.) to secure and expand these high-value </a:t>
            </a: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relationships.v</a:t>
            </a:r>
            <a:endParaRPr lang="en-US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5C65FCBB-AEC4-DE17-02F5-D8711350F994}"/>
              </a:ext>
            </a:extLst>
          </p:cNvPr>
          <p:cNvSpPr/>
          <p:nvPr/>
        </p:nvSpPr>
        <p:spPr>
          <a:xfrm>
            <a:off x="6434254" y="2943922"/>
            <a:ext cx="4772722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EB51C-57A2-AAE0-50BC-B02DBC16B547}"/>
              </a:ext>
            </a:extLst>
          </p:cNvPr>
          <p:cNvSpPr txBox="1"/>
          <p:nvPr/>
        </p:nvSpPr>
        <p:spPr>
          <a:xfrm>
            <a:off x="6434254" y="2926535"/>
            <a:ext cx="4783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Increase stock levels for the "</a:t>
            </a: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Speedeon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 and "Lazy Cat" product lines ahead of the early peak season (January/February) to prevent stockouts.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75B7B-B51A-44FC-2B48-37C741C8B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89975" y="2190020"/>
            <a:ext cx="5094468" cy="323895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2597F-95A7-2789-3AAC-8F1203B90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0280" y="2837985"/>
            <a:ext cx="3619936" cy="223497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C079BD-C114-9A5E-338C-37789109D4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6054" y="1841243"/>
            <a:ext cx="8621328" cy="4734586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18BB69-5E67-26A1-B59F-9D6BDE0CFB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94039" y="974895"/>
            <a:ext cx="6592011" cy="579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95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and a cup of coffee on a desk&#10;&#10;AI-generated content may be incorrect.">
            <a:extLst>
              <a:ext uri="{FF2B5EF4-FFF2-40B4-BE49-F238E27FC236}">
                <a16:creationId xmlns:a16="http://schemas.microsoft.com/office/drawing/2014/main" id="{E3419DA8-6609-96F8-EC5E-60F56BC4B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F7B8C279-A0D7-DEE3-D3CD-06D5FF568852}"/>
              </a:ext>
            </a:extLst>
          </p:cNvPr>
          <p:cNvSpPr/>
          <p:nvPr/>
        </p:nvSpPr>
        <p:spPr>
          <a:xfrm>
            <a:off x="0" y="0"/>
            <a:ext cx="5252224" cy="1639229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B0582-642E-76AF-E436-086FF066C90F}"/>
              </a:ext>
            </a:extLst>
          </p:cNvPr>
          <p:cNvSpPr txBox="1"/>
          <p:nvPr/>
        </p:nvSpPr>
        <p:spPr>
          <a:xfrm>
            <a:off x="-11152" y="75145"/>
            <a:ext cx="5263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Launch targeted promotional campaigns and discounts in July and August to counter the seasonal drop in sales.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5D72436-5767-17F3-4559-A020763E2301}"/>
              </a:ext>
            </a:extLst>
          </p:cNvPr>
          <p:cNvSpPr/>
          <p:nvPr/>
        </p:nvSpPr>
        <p:spPr>
          <a:xfrm>
            <a:off x="6939778" y="7374"/>
            <a:ext cx="5263376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AFD8F-31C3-FCC5-4A60-0B5F6F781CF4}"/>
              </a:ext>
            </a:extLst>
          </p:cNvPr>
          <p:cNvSpPr txBox="1"/>
          <p:nvPr/>
        </p:nvSpPr>
        <p:spPr>
          <a:xfrm>
            <a:off x="7181385" y="75145"/>
            <a:ext cx="5263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Establish a "VIP Account Management" program for our top 5 clients (especially Bike World Inc.) to secure and expand these high-value </a:t>
            </a: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relationships.v</a:t>
            </a:r>
            <a:endParaRPr lang="en-US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5C65FCBB-AEC4-DE17-02F5-D8711350F994}"/>
              </a:ext>
            </a:extLst>
          </p:cNvPr>
          <p:cNvSpPr/>
          <p:nvPr/>
        </p:nvSpPr>
        <p:spPr>
          <a:xfrm>
            <a:off x="7304049" y="2014137"/>
            <a:ext cx="4772722" cy="194031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EB51C-57A2-AAE0-50BC-B02DBC16B547}"/>
              </a:ext>
            </a:extLst>
          </p:cNvPr>
          <p:cNvSpPr txBox="1"/>
          <p:nvPr/>
        </p:nvSpPr>
        <p:spPr>
          <a:xfrm>
            <a:off x="7408127" y="2021918"/>
            <a:ext cx="4783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Increase stock levels for the "</a:t>
            </a: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Speedeon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 and "Lazy Cat" product lines ahead of the early peak season (January/February) to prevent stockouts.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75B7B-B51A-44FC-2B48-37C741C8B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1674"/>
            <a:ext cx="5094468" cy="323895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2597F-95A7-2789-3AAC-8F1203B90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940" y="4482790"/>
            <a:ext cx="3126059" cy="2367836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C7C251-37F4-B94A-4E87-AD0C9CCE10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467" y="4020900"/>
            <a:ext cx="3960319" cy="283710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D57674-BE93-0027-5D8C-2BE3E1747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54" y="1659183"/>
            <a:ext cx="3657603" cy="1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01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alı</dc:creator>
  <cp:lastModifiedBy>hassan alı</cp:lastModifiedBy>
  <cp:revision>1</cp:revision>
  <dcterms:created xsi:type="dcterms:W3CDTF">2026-02-22T14:26:47Z</dcterms:created>
  <dcterms:modified xsi:type="dcterms:W3CDTF">2026-02-22T14:27:09Z</dcterms:modified>
</cp:coreProperties>
</file>